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Nebudu prodávat, že to funguje. Ukážu, kde to selhalo — a proč právě to je důkaz, že model drží. 10 minut, rezerva do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Otázka do sálu. Nechat vydechnout. Pak rovnou k zadání.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Klíč: meze jsou součástí zadání, ne dodatečná kontrola.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JÁDRO PREZENTACE. Každá vrstva má jiný zájem: co se má stát / jak to postavit / co je na tom špatně / co to stojí a čím to hrozí. Ověřit před talkem, jestli je Chief of Staff samostatný agent nebo řídicí vrstva.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Nejsilnější slide. Nechat publikum chvíli číst. Zvlášť vypíchnout: „Když nic nového, v chatu zůstávám ticho.“ Agent, který mlčí, když nemá co říct.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Čísla jsou ověřená, ne odhadnutá. 368 testů = skutečný stav repozitáře. 20/20 doručeno = potvrzeno Resendem.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DOPLNIT: jak dlouho to trvalo — to číslo neznám, nevymýšlet si ho na pódiu. Zmínit, proč jsou adresy zakryté — publikum to ocení a je to malá ukázka téhož principu: co má následky, řeší člověk.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Tohle je ta část, kvůli které talk není sales pitch. Nešetřit 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Mutace = rozbij kód, který má test hlídat. Když projde, netestuje nic. Nejlevnější pojistka, jakou znám.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Poctivě přiznat: za ten týden jsem do toho mluvil víc, než zní „já jen schvaluju platby“. Autonomie zatím není u strategie, ale u realizace.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Zakončit pozvánkou: business návrhy Eduardě na eda@. Bacha, taky u toho mailu nesedí pořád, má práci.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First Company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C9D4E1"/>
                </a:solidFill>
                <a:latin typeface="Calibri"/>
              </a:rPr>
              <a:t>Přijímačky na školu jako provozní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8CA3BD"/>
                </a:solidFill>
                <a:latin typeface="Calibri"/>
              </a:rPr>
              <a:t>Patrick Zandl  ·  Vibecoding Talks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16325C"/>
                </a:solidFill>
                <a:latin typeface="Calibri"/>
              </a:rPr>
              <a:t>Minulý týden jsem řízení firmy</a:t>
            </a:r>
          </a:p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16325C"/>
                </a:solidFill>
                <a:latin typeface="Calibri"/>
              </a:rPr>
              <a:t>předal AI ředitelce.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0074E4"/>
                </a:solidFill>
                <a:latin typeface="Calibri"/>
              </a:rPr>
              <a:t>Hype, nebo provozovatelný model?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32720" cy="13716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80160" y="4617720"/>
            <a:ext cx="9601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B6877"/>
                </a:solidFill>
                <a:latin typeface="Calibri"/>
              </a:rPr>
              <a:t>Co si odnesete: provozní rámec „agent navrhuje, člověk schvaluje následky“,</a:t>
            </a:r>
          </a:p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B6877"/>
                </a:solidFill>
                <a:latin typeface="Calibri"/>
              </a:rPr>
              <a:t>tři konkrétní průšvihy — a co je zachytilo.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Zadání, ne roadmapa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4937760" cy="23774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074E4"/>
                </a:solidFill>
                <a:latin typeface="Calibri"/>
              </a:rPr>
              <a:t>Cíl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4297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25C"/>
                </a:solidFill>
                <a:latin typeface="Calibri"/>
              </a:rPr>
              <a:t>Poskytovat co nejlepší informace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25C"/>
                </a:solidFill>
                <a:latin typeface="Calibri"/>
              </a:rPr>
              <a:t>o přijímacím řízení na střední školy.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4937760" cy="2377440"/>
          </a:xfrm>
          <a:prstGeom prst="roundRect">
            <a:avLst/>
          </a:prstGeom>
          <a:solidFill>
            <a:srgbClr val="FDF2F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2148840"/>
            <a:ext cx="4297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C0392B"/>
                </a:solidFill>
                <a:latin typeface="Calibri"/>
              </a:rPr>
              <a:t>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606040"/>
            <a:ext cx="42976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25C"/>
                </a:solidFill>
                <a:latin typeface="Calibri"/>
              </a:rPr>
              <a:t>Bez pokusu o průnik na cizí servery.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25C"/>
                </a:solidFill>
                <a:latin typeface="Calibri"/>
              </a:rPr>
              <a:t>(doplněno po rozhovoru Slížek / Koubský)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6325C"/>
                </a:solidFill>
                <a:latin typeface="Calibri"/>
              </a:rPr>
              <a:t>Žádný 40slidový plán. Agent dostane cíl a meze, ne todo 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Dělba moci, ne delegace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B6877"/>
                </a:solidFill>
                <a:latin typeface="Calibri"/>
              </a:rPr>
              <a:t>Čtyři role, tři modely, jeden člověk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2514600" cy="192024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6B4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B4EA8"/>
                </a:solidFill>
                <a:latin typeface="Calibri"/>
              </a:rPr>
              <a:t>Chief of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orchestrace,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provozní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25603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D4E1"/>
                </a:solidFill>
                <a:latin typeface="Calibri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828800"/>
            <a:ext cx="2514600" cy="192024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7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duarda-port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938528"/>
            <a:ext cx="658368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11880" y="2057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074E4"/>
                </a:solidFill>
                <a:latin typeface="Calibri"/>
              </a:rPr>
              <a:t>Eduarda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56032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ředitelka — návrhy,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komunikace, inbox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0448" y="25603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D4E1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28800"/>
            <a:ext cx="2514600" cy="192024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E7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7A5E"/>
                </a:solidFill>
                <a:latin typeface="Calibri"/>
              </a:rPr>
              <a:t>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realizace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podle zadání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56032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9D4E1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514600" cy="192024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C26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098280" y="205740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C26A1A"/>
                </a:solidFill>
                <a:latin typeface="Calibri"/>
              </a:rPr>
              <a:t>Codex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560320"/>
            <a:ext cx="2103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oponentura,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nálezy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69080"/>
            <a:ext cx="10881360" cy="868680"/>
          </a:xfrm>
          <a:prstGeom prst="round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40" y="4224528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Patrick  ·  schvaluje realizaci — peníze, právo, reputace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0074E4"/>
                </a:solidFill>
                <a:latin typeface="Calibri"/>
              </a:rPr>
              <a:t>„Kdo kód píše, ten ho nerecenzuje. Kdo zadává, ten neschvaluje.“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5B6877"/>
                </a:solidFill>
                <a:latin typeface="Calibri"/>
              </a:rPr>
              <a:t>Eduarda běží na Grok Botu — tam má skills, napojení na svět i knowledge base.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Odpověděla. Předala. Zeptala 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B6877"/>
                </a:solidFill>
                <a:latin typeface="Calibri"/>
              </a:rPr>
              <a:t>Jedna kontrola inboxu, tři různá chování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6309360" cy="13258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1E7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E7A5E"/>
                </a:solidFill>
                <a:latin typeface="Calibri"/>
              </a:rPr>
              <a:t>Odpověděla 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2316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Tip na kalendář dnů otevřených dveří — zodpovězeno z eda@,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založen produktový nápad.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6309360" cy="13258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6B4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342900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6B4EA8"/>
                </a:solidFill>
                <a:latin typeface="Calibri"/>
              </a:rPr>
              <a:t>Předala výš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DMARC reporty → Chief of Staff.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Není to její agenda.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754880"/>
            <a:ext cx="6309360" cy="13258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7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489204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074E4"/>
                </a:solidFill>
                <a:latin typeface="Calibri"/>
              </a:rPr>
              <a:t>Zeptala 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34924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„Jestli to měl být ostrý test podpory, napiš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a odpovím jako zákazníkovi.“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26364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16325C"/>
                </a:solidFill>
                <a:latin typeface="Calibri"/>
              </a:rPr>
              <a:t>Autonomie roste s vratností, ne s důvěrou.</a:t>
            </a:r>
          </a:p>
        </p:txBody>
      </p:sp>
      <p:pic>
        <p:nvPicPr>
          <p:cNvPr id="14" name="Picture 13" descr="eduarda-anon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57200"/>
            <a:ext cx="2775842" cy="6035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Týden v provozu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2514600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17830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0074E4"/>
                </a:solidFill>
                <a:latin typeface="Calibri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6974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pozvánek doručeno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0 odmítnutí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554480"/>
            <a:ext cx="2514600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566160" y="17830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0074E4"/>
                </a:solidFill>
                <a:latin typeface="Calibri"/>
              </a:rPr>
              <a:t>368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6974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automatických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testů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514600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0074E4"/>
                </a:solidFill>
                <a:latin typeface="Calibri"/>
              </a:rP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pořadatelů akcí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v databázi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1554480"/>
            <a:ext cx="2514600" cy="2011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052559" y="17830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 i="0">
                <a:solidFill>
                  <a:srgbClr val="0074E4"/>
                </a:solidFill>
                <a:latin typeface="Calibri"/>
              </a:rPr>
              <a:t>150 Kč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269748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denní limit</a:t>
            </a:r>
          </a:p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5B6877"/>
                </a:solidFill>
                <a:latin typeface="Calibri"/>
              </a:rPr>
              <a:t>na reklamu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Portál škol — profily, které si školy samy upravují; publikace ihned, moderace zpětně</a:t>
            </a:r>
          </a:p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Sklízení dat z webů škol přes RSS a Exa</a:t>
            </a:r>
          </a:p>
          <a:p>
            <a:pPr algn="l">
              <a:lnSpc>
                <a:spcPct val="160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Odhad nákladů, kdyby totéž zadalo MŠMT:  ~5 mil. Kč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Výstup, ne slib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0350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Zadání znělo: seber databázi pořadatelů</a:t>
            </a:r>
          </a:p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veletrhů středních škol.</a:t>
            </a:r>
          </a:p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Výstup: 23 organizací, u 12 ověřený e-mail,</a:t>
            </a:r>
          </a:p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Excel i CSV, seřazené podle</a:t>
            </a:r>
          </a:p>
          <a:p>
            <a:pPr algn="l">
              <a:lnSpc>
                <a:spcPct val="135000"/>
              </a:lnSpc>
            </a:pPr>
            <a:r>
              <a:rPr sz="2000" b="0" i="0">
                <a:solidFill>
                  <a:srgbClr val="16325C"/>
                </a:solidFill>
                <a:latin typeface="Calibri"/>
              </a:rPr>
              <a:t>nejbližšího deadlinu.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840480"/>
            <a:ext cx="6035040" cy="13716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7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4069080"/>
            <a:ext cx="5486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B6877"/>
                </a:solidFill>
                <a:latin typeface="Calibri"/>
              </a:rPr>
              <a:t>Agent nedodal rešerši k dalšímu zpracování.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5B6877"/>
                </a:solidFill>
                <a:latin typeface="Calibri"/>
              </a:rPr>
              <a:t>Dodal seznam, ze kterého se dá rovnou psát.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60720"/>
            <a:ext cx="6035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5B6877"/>
                </a:solidFill>
                <a:latin typeface="Calibri"/>
              </a:rPr>
              <a:t>Adresy na slidu zakryté — nemám souhlas jejich majitelů.</a:t>
            </a:r>
          </a:p>
        </p:txBody>
      </p:sp>
      <p:pic>
        <p:nvPicPr>
          <p:cNvPr id="7" name="Picture 6" descr="marketing-anon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457200"/>
            <a:ext cx="2775842" cy="6035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Kde to drhlo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5B6877"/>
                </a:solidFill>
                <a:latin typeface="Calibri"/>
              </a:rPr>
              <a:t>Tři nálezy z jednoho pull requestu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1325880"/>
          </a:xfrm>
          <a:prstGeom prst="roundRect">
            <a:avLst/>
          </a:prstGeom>
          <a:solidFill>
            <a:srgbClr val="FDF2F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Vymyšlený technický fakt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915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B6877"/>
                </a:solidFill>
                <a:latin typeface="Calibri"/>
              </a:rPr>
              <a:t>AI tvrdila, že tečka za kódem rozbije přihlášení. Nerozbije — normalizace ji zahodí.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B6877"/>
                </a:solidFill>
                <a:latin typeface="Calibri"/>
              </a:rPr>
              <a:t>Ta nepravda se dostala do dokumentu, který byl zdrojem pravdy pro rozesílku.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10881360" cy="1325880"/>
          </a:xfrm>
          <a:prstGeom prst="roundRect">
            <a:avLst/>
          </a:prstGeom>
          <a:solidFill>
            <a:srgbClr val="FDF2F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Vývojářská poznámka mířila do e-mailu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B6877"/>
                </a:solidFill>
                <a:latin typeface="Calibri"/>
              </a:rPr>
              <a:t>HTML komentář „ředitel by si kód zkopíroval špatně“ by dorazil dvaceti ředitelům —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B6877"/>
                </a:solidFill>
                <a:latin typeface="Calibri"/>
              </a:rPr>
              <a:t>ve studeném e-mailu, jehož celý smysl je nevypadat jako podvod.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663440"/>
            <a:ext cx="10881360" cy="1325880"/>
          </a:xfrm>
          <a:prstGeom prst="roundRect">
            <a:avLst/>
          </a:prstGeom>
          <a:solidFill>
            <a:srgbClr val="FDF2F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48006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C0392B"/>
                </a:solidFill>
                <a:latin typeface="Calibri"/>
              </a:rPr>
              <a:t>Jednorázový kód se dal spálit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285231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B6877"/>
                </a:solidFill>
                <a:latin typeface="Calibri"/>
              </a:rPr>
              <a:t>253 z 1362 škol. Kód je jednorázový; druhý už škola nedostane.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16325C"/>
                </a:solidFill>
                <a:latin typeface="Calibri"/>
              </a:rPr>
              <a:t>Nic z toho nezachytila opatrnost. Zachytilo to další kolo.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Co to zachytilo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303520" cy="2103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007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074E4"/>
                </a:solidFill>
                <a:latin typeface="Calibri"/>
              </a:rPr>
              <a:t>6 kol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4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code review nad jedním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pull requestem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210312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C0392B"/>
                </a:solidFill>
                <a:latin typeface="Calibri"/>
              </a:rPr>
              <a:t>9 testů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77440"/>
            <a:ext cx="4754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netestovalo vůbec nic —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odhalila to mutace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881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6325C"/>
                </a:solidFill>
                <a:latin typeface="Calibri"/>
              </a:rPr>
              <a:t>Jeden z nich chybu dokonce zamykal jako správné chování.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6325C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6325C"/>
                </a:solidFill>
                <a:latin typeface="Calibri"/>
              </a:rPr>
              <a:t>Model, který kód napsal, je na něj slepý. Tři z těch nálezů byly věci,</a:t>
            </a:r>
          </a:p>
          <a:p>
            <a:pPr algn="l">
              <a:lnSpc>
                <a:spcPct val="140000"/>
              </a:lnSpc>
            </a:pPr>
            <a:r>
              <a:rPr sz="2100" b="0" i="0">
                <a:solidFill>
                  <a:srgbClr val="16325C"/>
                </a:solidFill>
                <a:latin typeface="Calibri"/>
              </a:rPr>
              <a:t>které si byl jistý — sám by je neodhalil.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074E4"/>
                </a:solidFill>
                <a:latin typeface="Calibri"/>
              </a:rPr>
              <a:t>Nestav kontrolu na tom, že agent bude opatrný. Postav ji na tom, že se dívá někdo jiný.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16325C"/>
                </a:solidFill>
                <a:latin typeface="Calibri"/>
              </a:rPr>
              <a:t>Kde končí autonomie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03520" cy="3291840"/>
          </a:xfrm>
          <a:prstGeom prst="roundRect">
            <a:avLst/>
          </a:prstGeom>
          <a:solidFill>
            <a:srgbClr val="EFF7F1"/>
          </a:solidFill>
          <a:ln w="19050">
            <a:solidFill>
              <a:srgbClr val="1E7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E7A5E"/>
                </a:solidFill>
                <a:latin typeface="Calibri"/>
              </a:rPr>
              <a:t>Agent sám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Kód a refaktoring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Odpovědi v podpoře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Rešerše a databáze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Kampaně v rámci limitu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Návrhy produktu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303520" cy="3291840"/>
          </a:xfrm>
          <a:prstGeom prst="roundRect">
            <a:avLst/>
          </a:prstGeom>
          <a:solidFill>
            <a:srgbClr val="FDF2F0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0" y="17830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C0392B"/>
                </a:solidFill>
                <a:latin typeface="Calibri"/>
              </a:rPr>
              <a:t>Vždy člověk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31720"/>
            <a:ext cx="46634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Platby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Smlouvy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Úřady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Nevratné rozesílky</a:t>
            </a:r>
          </a:p>
          <a:p>
            <a:pPr algn="l">
              <a:lnSpc>
                <a:spcPct val="155000"/>
              </a:lnSpc>
            </a:pPr>
            <a:r>
              <a:rPr sz="1700" b="0" i="0">
                <a:solidFill>
                  <a:srgbClr val="5B6877"/>
                </a:solidFill>
                <a:latin typeface="Calibri"/>
              </a:rPr>
              <a:t>Cokoli s dopadem na reputaci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6325C"/>
                </a:solidFill>
                <a:latin typeface="Calibri"/>
              </a:rPr>
              <a:t>Dělicí čára není „důležité / nedůležité“.</a:t>
            </a:r>
          </a:p>
          <a:p>
            <a:pPr algn="ctr">
              <a:lnSpc>
                <a:spcPct val="130000"/>
              </a:lnSpc>
            </a:pPr>
            <a:r>
              <a:rPr sz="2400" b="1" i="0">
                <a:solidFill>
                  <a:srgbClr val="16325C"/>
                </a:solidFill>
                <a:latin typeface="Calibri"/>
              </a:rPr>
              <a:t>Je to „dá se to vzít zpět?“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550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5B68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 zkusit zítra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074E4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48839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3E9F1"/>
                </a:solidFill>
                <a:latin typeface="Calibri"/>
              </a:rPr>
              <a:t>Dej agentovi cíl a meze, ne seznam úkolů.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756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074E4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383279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3E9F1"/>
                </a:solidFill>
                <a:latin typeface="Calibri"/>
              </a:rPr>
              <a:t>Rozděl role: kdo píše, ten nerecenzuje.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640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074E4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6177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3E9F1"/>
                </a:solidFill>
                <a:latin typeface="Calibri"/>
              </a:rPr>
              <a:t>U každého testu rozbij kód, který má hlídat.</a:t>
            </a:r>
          </a:p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3E9F1"/>
                </a:solidFill>
                <a:latin typeface="Calibri"/>
              </a:rPr>
              <a:t>Když projde, netestuje nic.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8CA3BD"/>
                </a:solidFill>
                <a:latin typeface="Calibri"/>
              </a:rPr>
              <a:t>eda@prijimackynaskolu.cz  ·  thread na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