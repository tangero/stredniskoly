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_rels/notesSlide7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.xml.rels" ContentType="application/vnd.openxmlformats-package.relationshi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A26FACE-5CD2-405B-AEF1-4747B0C68197}" type="slidenum"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Nebudu prodávat, že to funguje. Ukážu, kde to selhalo — a proč právě to je důkaz, že model drží. 10 minut, rezerva do 15.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0DEF0CB-FF24-4423-8A6C-9CA828B2CEF3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Otázka do sálu. Nechat vydechnout. Pak rovnou k zadání.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9EC5BE8-0461-4C93-921B-49309129747A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Klíč: meze jsou součástí zadání, ne dodatečná kontrola.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71758F5-0DB5-4478-A40D-83200387C47F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JÁDRO PREZENTACE. Každá vrstva má jiný zájem: co se má stát / jak to postavit / co je na tom špatně / co to stojí a čím to hrozí. Ověřit před talkem, jestli je Chief of Staff samostatný agent nebo řídicí vrstva.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2772334-D86B-4407-BA69-269588555817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Nejsilnější slide. Nechat publikum chvíli číst. Zvlášť vypíchnout: „Když nic nového, v chatu zůstávám ticho.“ Agent, který mlčí, když nemá co říct.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B256763-FB1B-4D99-AD82-AE0CB34890EC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Čísla jsou ověřená, ne odhadnutá. 368 testů = skutečný stav repozitáře. 20/20 doručeno = potvrzeno Resendem.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F24B884-FC46-45E9-94EE-98B5A9C16C52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DOPLNIT: jak dlouho to trvalo — to číslo neznám, nevymýšlet si ho na pódiu. Zmínit, proč jsou adresy zakryté — publikum to ocení a je to malá ukázka téhož principu: co má následky, řeší člověk.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837E942-2D2E-4816-B93E-228E473E1BE4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Tohle je ta část, kvůli které talk není sales pitch. Nešetřit se.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DD8B23F-C63A-468A-B3D5-DD472C521612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Mutace = rozbij kód, který má test hlídat. Když projde, netestuje nic. Nejlevnější pojistka, jakou znám.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0E6924C-D8DE-4660-B24F-BBE2ED4E8CC7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Poctivě přiznat: za ten týden jsem do toho mluvil víc, než zní „já jen schvaluju platby“. Autonomie zatím není u strategie, ale u realizace.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2DD2543-DC42-4FFB-B1FE-33661E1C870C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cs-CZ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Zakončit pozvánkou: business návrhy Eduardě na eda@. Bacha, taky u toho mailu nesedí pořád, má práci.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0F127C2-7262-4427-9F78-7BE87D16DC14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2341C2D-2AB3-4422-96F0-C8D72B7F825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BB7BEA6-FF4C-4594-8A4F-204C0128DD2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3CE5FA-5DC7-48BE-B172-C3201249B27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067BE13-60C9-4FA5-97E5-E6B4C1C6597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F6AF99-F64B-499F-B5BC-371994E3663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2DD84FB-B8A3-4E0B-9DC2-045FFF3AA70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4D44F4-F140-4775-969D-4626F74AE42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ABA4933-2637-47FE-96D7-675B583C24C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8E0E846-7D8A-4B24-94CC-1072E6B25DA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12796B0-87F7-45FB-89AB-6181E7FA371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50082B2-A0BD-4DE3-8563-5309E6002BB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cs-CZ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914400" y="2103120"/>
            <a:ext cx="10332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5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AI First Company</a:t>
            </a:r>
            <a:endParaRPr b="0" lang="cs-CZ" sz="5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914400" y="3200400"/>
            <a:ext cx="10332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2600" strike="noStrike" u="none">
                <a:solidFill>
                  <a:srgbClr val="c9d4e1"/>
                </a:solidFill>
                <a:effectLst/>
                <a:uFillTx/>
                <a:latin typeface="Calibri"/>
              </a:rPr>
              <a:t>Přijímačky na školu jako provozní experiment</a:t>
            </a:r>
            <a:endParaRPr b="0" lang="cs-CZ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914400" y="4480560"/>
            <a:ext cx="10332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8ca3bd"/>
                </a:solidFill>
                <a:effectLst/>
                <a:uFillTx/>
                <a:latin typeface="Calibri"/>
              </a:rPr>
              <a:t>Patrick Zandl  ·  Vibecoding Talks</a:t>
            </a:r>
            <a:endParaRPr b="0" lang="cs-CZ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"/>
          <p:cNvSpPr/>
          <p:nvPr/>
        </p:nvSpPr>
        <p:spPr>
          <a:xfrm>
            <a:off x="914400" y="1371600"/>
            <a:ext cx="103323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40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Minulý týden jsem řízení firmy</a:t>
            </a:r>
            <a:endParaRPr b="0" lang="cs-CZ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b="1" lang="en-US" sz="40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předal AI ředitelce.</a:t>
            </a:r>
            <a:endParaRPr b="0" lang="cs-CZ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914400" y="3291840"/>
            <a:ext cx="10332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28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Hype, nebo provozovatelný model?</a:t>
            </a:r>
            <a:endParaRPr b="0" lang="cs-CZ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3"/>
          <p:cNvSpPr/>
          <p:nvPr/>
        </p:nvSpPr>
        <p:spPr>
          <a:xfrm>
            <a:off x="914400" y="4389120"/>
            <a:ext cx="10332360" cy="137124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4"/>
          <p:cNvSpPr/>
          <p:nvPr/>
        </p:nvSpPr>
        <p:spPr>
          <a:xfrm>
            <a:off x="1280160" y="4617720"/>
            <a:ext cx="96008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8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Co si odnesete: provozní rámec „agent navrhuje, člověk schvaluje následky“,</a:t>
            </a:r>
            <a:endParaRPr b="0" lang="cs-CZ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b="0" lang="en-US" sz="18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tři konkrétní průšvihy — a co je zachytilo.</a:t>
            </a:r>
            <a:endParaRPr b="0" lang="cs-CZ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5"/>
          <p:cNvSpPr/>
          <p:nvPr/>
        </p:nvSpPr>
        <p:spPr>
          <a:xfrm>
            <a:off x="10881360" y="63550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25000"/>
              </a:lnSpc>
            </a:pPr>
            <a:r>
              <a:rPr b="0" lang="en-US" sz="11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2</a:t>
            </a:r>
            <a:endParaRPr b="0" lang="cs-CZ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1"/>
          <p:cNvSpPr/>
          <p:nvPr/>
        </p:nvSpPr>
        <p:spPr>
          <a:xfrm>
            <a:off x="914400" y="64008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6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Zadání, ne roadmapa</a:t>
            </a:r>
            <a:endParaRPr b="0" lang="cs-CZ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2"/>
          <p:cNvSpPr/>
          <p:nvPr/>
        </p:nvSpPr>
        <p:spPr>
          <a:xfrm>
            <a:off x="914400" y="1828800"/>
            <a:ext cx="4937400" cy="237708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1280160" y="2148840"/>
            <a:ext cx="42973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6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Cíl</a:t>
            </a:r>
            <a:endParaRPr b="0" lang="cs-CZ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1280160" y="2606040"/>
            <a:ext cx="42973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9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Poskytovat co nejlepší informace</a:t>
            </a:r>
            <a:endParaRPr b="0" lang="cs-CZ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b="0" lang="en-US" sz="19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o přijímacím řízení na střední školy.</a:t>
            </a:r>
            <a:endParaRPr b="0" lang="cs-CZ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5"/>
          <p:cNvSpPr/>
          <p:nvPr/>
        </p:nvSpPr>
        <p:spPr>
          <a:xfrm>
            <a:off x="6309360" y="1828800"/>
            <a:ext cx="4937400" cy="2377080"/>
          </a:xfrm>
          <a:prstGeom prst="roundRect">
            <a:avLst>
              <a:gd name="adj" fmla="val 16667"/>
            </a:avLst>
          </a:prstGeom>
          <a:solidFill>
            <a:srgbClr val="fdf2f0"/>
          </a:solidFill>
          <a:ln w="1905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6675120" y="2148840"/>
            <a:ext cx="42973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600" strike="noStrike" u="none">
                <a:solidFill>
                  <a:srgbClr val="c0392b"/>
                </a:solidFill>
                <a:effectLst/>
                <a:uFillTx/>
                <a:latin typeface="Calibri"/>
              </a:rPr>
              <a:t>Mez</a:t>
            </a:r>
            <a:endParaRPr b="0" lang="cs-CZ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7"/>
          <p:cNvSpPr/>
          <p:nvPr/>
        </p:nvSpPr>
        <p:spPr>
          <a:xfrm>
            <a:off x="6675120" y="2606040"/>
            <a:ext cx="42973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9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Bez pokusu o průnik na cizí servery.</a:t>
            </a:r>
            <a:endParaRPr b="0" lang="cs-CZ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b="0" lang="en-US" sz="19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(doplněno po rozhovoru Slížek / Koubský)</a:t>
            </a:r>
            <a:endParaRPr b="0" lang="cs-CZ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914400" y="4754880"/>
            <a:ext cx="10332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4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Žádný 40slidový plán. Agent dostane cíl a meze, ne todo list.</a:t>
            </a:r>
            <a:endParaRPr b="0" lang="cs-CZ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10881360" y="63550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25000"/>
              </a:lnSpc>
            </a:pPr>
            <a:r>
              <a:rPr b="0" lang="en-US" sz="11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3</a:t>
            </a:r>
            <a:endParaRPr b="0" lang="cs-CZ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640080" y="411480"/>
            <a:ext cx="10972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6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Dělba moci, ne delegace</a:t>
            </a:r>
            <a:endParaRPr b="0" lang="cs-CZ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640080" y="105156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8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Čtyři role, tři modely, jeden člověk</a:t>
            </a:r>
            <a:endParaRPr b="0" lang="cs-CZ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3"/>
          <p:cNvSpPr/>
          <p:nvPr/>
        </p:nvSpPr>
        <p:spPr>
          <a:xfrm>
            <a:off x="640080" y="1828800"/>
            <a:ext cx="2514240" cy="191988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 w="19050">
            <a:solidFill>
              <a:srgbClr val="6b4ea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4"/>
          <p:cNvSpPr/>
          <p:nvPr/>
        </p:nvSpPr>
        <p:spPr>
          <a:xfrm>
            <a:off x="868680" y="205740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700" strike="noStrike" u="none">
                <a:solidFill>
                  <a:srgbClr val="6b4ea8"/>
                </a:solidFill>
                <a:effectLst/>
                <a:uFillTx/>
                <a:latin typeface="Calibri"/>
              </a:rPr>
              <a:t>Chief of Staff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5"/>
          <p:cNvSpPr/>
          <p:nvPr/>
        </p:nvSpPr>
        <p:spPr>
          <a:xfrm>
            <a:off x="868680" y="2560320"/>
            <a:ext cx="21027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orchestrace,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provozní agenda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6"/>
          <p:cNvSpPr/>
          <p:nvPr/>
        </p:nvSpPr>
        <p:spPr>
          <a:xfrm>
            <a:off x="3127320" y="2560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400" strike="noStrike" u="none">
                <a:solidFill>
                  <a:srgbClr val="c9d4e1"/>
                </a:solidFill>
                <a:effectLst/>
                <a:uFillTx/>
                <a:latin typeface="Calibri"/>
              </a:rPr>
              <a:t>▶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7"/>
          <p:cNvSpPr/>
          <p:nvPr/>
        </p:nvSpPr>
        <p:spPr>
          <a:xfrm>
            <a:off x="3383280" y="1828800"/>
            <a:ext cx="2514240" cy="191988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 w="19050">
            <a:solidFill>
              <a:srgbClr val="0074e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Picture 8" descr="eduarda-portret.png"/>
          <p:cNvPicPr/>
          <p:nvPr/>
        </p:nvPicPr>
        <p:blipFill>
          <a:blip r:embed="rId1"/>
          <a:stretch/>
        </p:blipFill>
        <p:spPr>
          <a:xfrm>
            <a:off x="5139000" y="1938600"/>
            <a:ext cx="658080" cy="658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Box 9"/>
          <p:cNvSpPr/>
          <p:nvPr/>
        </p:nvSpPr>
        <p:spPr>
          <a:xfrm>
            <a:off x="3611880" y="205740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7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Eduarda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3611880" y="2560320"/>
            <a:ext cx="21027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ředitelka — návrhy,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komunikace, inbox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1"/>
          <p:cNvSpPr/>
          <p:nvPr/>
        </p:nvSpPr>
        <p:spPr>
          <a:xfrm>
            <a:off x="5870520" y="2560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400" strike="noStrike" u="none">
                <a:solidFill>
                  <a:srgbClr val="c9d4e1"/>
                </a:solidFill>
                <a:effectLst/>
                <a:uFillTx/>
                <a:latin typeface="Calibri"/>
              </a:rPr>
              <a:t>▶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12"/>
          <p:cNvSpPr/>
          <p:nvPr/>
        </p:nvSpPr>
        <p:spPr>
          <a:xfrm>
            <a:off x="6126480" y="1828800"/>
            <a:ext cx="2514240" cy="191988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 w="19050">
            <a:solidFill>
              <a:srgbClr val="1e7a5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3"/>
          <p:cNvSpPr/>
          <p:nvPr/>
        </p:nvSpPr>
        <p:spPr>
          <a:xfrm>
            <a:off x="6355080" y="205740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700" strike="noStrike" u="none">
                <a:solidFill>
                  <a:srgbClr val="1e7a5e"/>
                </a:solidFill>
                <a:effectLst/>
                <a:uFillTx/>
                <a:latin typeface="Calibri"/>
              </a:rPr>
              <a:t>Claude Code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4"/>
          <p:cNvSpPr/>
          <p:nvPr/>
        </p:nvSpPr>
        <p:spPr>
          <a:xfrm>
            <a:off x="6355080" y="2560320"/>
            <a:ext cx="21027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realizace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podle zadání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5"/>
          <p:cNvSpPr/>
          <p:nvPr/>
        </p:nvSpPr>
        <p:spPr>
          <a:xfrm>
            <a:off x="8613720" y="2560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400" strike="noStrike" u="none">
                <a:solidFill>
                  <a:srgbClr val="c9d4e1"/>
                </a:solidFill>
                <a:effectLst/>
                <a:uFillTx/>
                <a:latin typeface="Calibri"/>
              </a:rPr>
              <a:t>▶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ounded Rectangle 16"/>
          <p:cNvSpPr/>
          <p:nvPr/>
        </p:nvSpPr>
        <p:spPr>
          <a:xfrm>
            <a:off x="8869680" y="1828800"/>
            <a:ext cx="2514240" cy="191988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 w="19050">
            <a:solidFill>
              <a:srgbClr val="c26a1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17"/>
          <p:cNvSpPr/>
          <p:nvPr/>
        </p:nvSpPr>
        <p:spPr>
          <a:xfrm>
            <a:off x="9098280" y="205740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700" strike="noStrike" u="none">
                <a:solidFill>
                  <a:srgbClr val="c26a1a"/>
                </a:solidFill>
                <a:effectLst/>
                <a:uFillTx/>
                <a:latin typeface="Calibri"/>
              </a:rPr>
              <a:t>Codex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9098280" y="2560320"/>
            <a:ext cx="21027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oponentura,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nálezy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19"/>
          <p:cNvSpPr/>
          <p:nvPr/>
        </p:nvSpPr>
        <p:spPr>
          <a:xfrm>
            <a:off x="640080" y="4069080"/>
            <a:ext cx="10881000" cy="868320"/>
          </a:xfrm>
          <a:prstGeom prst="roundRect">
            <a:avLst>
              <a:gd name="adj" fmla="val 16667"/>
            </a:avLst>
          </a:prstGeom>
          <a:solidFill>
            <a:srgbClr val="1632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20"/>
          <p:cNvSpPr/>
          <p:nvPr/>
        </p:nvSpPr>
        <p:spPr>
          <a:xfrm>
            <a:off x="1005840" y="4224600"/>
            <a:ext cx="10149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Patrick  ·  schvaluje realizaci — peníze, právo, reputace</a:t>
            </a:r>
            <a:endParaRPr b="0" lang="cs-CZ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21"/>
          <p:cNvSpPr/>
          <p:nvPr/>
        </p:nvSpPr>
        <p:spPr>
          <a:xfrm>
            <a:off x="640080" y="525780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25000"/>
              </a:lnSpc>
            </a:pPr>
            <a:r>
              <a:rPr b="1" lang="en-US" sz="26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„Kdo kód píše, ten ho nerecenzuje. Kdo zadává, ten neschvaluje.“</a:t>
            </a:r>
            <a:endParaRPr b="0" lang="cs-CZ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22"/>
          <p:cNvSpPr/>
          <p:nvPr/>
        </p:nvSpPr>
        <p:spPr>
          <a:xfrm>
            <a:off x="640080" y="5989320"/>
            <a:ext cx="10881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25000"/>
              </a:lnSpc>
            </a:pPr>
            <a:r>
              <a:rPr b="0" lang="en-US" sz="14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Eduarda běží na Grok Botu — tam má skills, napojení na svět i knowledge base.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3"/>
          <p:cNvSpPr/>
          <p:nvPr/>
        </p:nvSpPr>
        <p:spPr>
          <a:xfrm>
            <a:off x="10881360" y="63550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25000"/>
              </a:lnSpc>
            </a:pPr>
            <a:r>
              <a:rPr b="0" lang="en-US" sz="11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4</a:t>
            </a:r>
            <a:endParaRPr b="0" lang="cs-CZ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1"/>
          <p:cNvSpPr/>
          <p:nvPr/>
        </p:nvSpPr>
        <p:spPr>
          <a:xfrm>
            <a:off x="640080" y="411480"/>
            <a:ext cx="6674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6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Odpověděla. Předala. Zeptala se.</a:t>
            </a:r>
            <a:endParaRPr b="0" lang="cs-CZ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2"/>
          <p:cNvSpPr/>
          <p:nvPr/>
        </p:nvSpPr>
        <p:spPr>
          <a:xfrm>
            <a:off x="640080" y="1097280"/>
            <a:ext cx="6674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8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Jedna kontrola inboxu, tři různá chování</a:t>
            </a:r>
            <a:endParaRPr b="0" lang="cs-CZ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ounded Rectangle 3"/>
          <p:cNvSpPr/>
          <p:nvPr/>
        </p:nvSpPr>
        <p:spPr>
          <a:xfrm>
            <a:off x="640080" y="1828800"/>
            <a:ext cx="6309000" cy="132552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 w="19050">
            <a:solidFill>
              <a:srgbClr val="1e7a5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4"/>
          <p:cNvSpPr/>
          <p:nvPr/>
        </p:nvSpPr>
        <p:spPr>
          <a:xfrm>
            <a:off x="960120" y="1965960"/>
            <a:ext cx="5760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700" strike="noStrike" u="none">
                <a:solidFill>
                  <a:srgbClr val="1e7a5e"/>
                </a:solidFill>
                <a:effectLst/>
                <a:uFillTx/>
                <a:latin typeface="Calibri"/>
              </a:rPr>
              <a:t>Odpověděla sama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5"/>
          <p:cNvSpPr/>
          <p:nvPr/>
        </p:nvSpPr>
        <p:spPr>
          <a:xfrm>
            <a:off x="960120" y="2423160"/>
            <a:ext cx="5760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Tip na kalendář dnů otevřených dveří — zodpovězeno z eda@,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založen produktový nápad.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ounded Rectangle 6"/>
          <p:cNvSpPr/>
          <p:nvPr/>
        </p:nvSpPr>
        <p:spPr>
          <a:xfrm>
            <a:off x="640080" y="3291840"/>
            <a:ext cx="6309000" cy="132552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 w="19050">
            <a:solidFill>
              <a:srgbClr val="6b4ea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7"/>
          <p:cNvSpPr/>
          <p:nvPr/>
        </p:nvSpPr>
        <p:spPr>
          <a:xfrm>
            <a:off x="960120" y="3429000"/>
            <a:ext cx="5760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700" strike="noStrike" u="none">
                <a:solidFill>
                  <a:srgbClr val="6b4ea8"/>
                </a:solidFill>
                <a:effectLst/>
                <a:uFillTx/>
                <a:latin typeface="Calibri"/>
              </a:rPr>
              <a:t>Předala výš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8"/>
          <p:cNvSpPr/>
          <p:nvPr/>
        </p:nvSpPr>
        <p:spPr>
          <a:xfrm>
            <a:off x="960120" y="3886200"/>
            <a:ext cx="5760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DMARC reporty → Chief of Staff.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Není to její agenda.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ounded Rectangle 9"/>
          <p:cNvSpPr/>
          <p:nvPr/>
        </p:nvSpPr>
        <p:spPr>
          <a:xfrm>
            <a:off x="640080" y="4754880"/>
            <a:ext cx="6309000" cy="132552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 w="19050">
            <a:solidFill>
              <a:srgbClr val="0074e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0"/>
          <p:cNvSpPr/>
          <p:nvPr/>
        </p:nvSpPr>
        <p:spPr>
          <a:xfrm>
            <a:off x="960120" y="4892040"/>
            <a:ext cx="5760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7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Zeptala se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1"/>
          <p:cNvSpPr/>
          <p:nvPr/>
        </p:nvSpPr>
        <p:spPr>
          <a:xfrm>
            <a:off x="960120" y="5349240"/>
            <a:ext cx="5760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„Jestli to měl být ostrý test podpory, napiš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a odpovím jako zákazníkovi.“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2"/>
          <p:cNvSpPr/>
          <p:nvPr/>
        </p:nvSpPr>
        <p:spPr>
          <a:xfrm>
            <a:off x="640080" y="6263640"/>
            <a:ext cx="6674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7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Autonomie roste s vratností, ne s důvěrou.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Picture 13" descr="eduarda-anonym.png"/>
          <p:cNvPicPr/>
          <p:nvPr/>
        </p:nvPicPr>
        <p:blipFill>
          <a:blip r:embed="rId1"/>
          <a:stretch/>
        </p:blipFill>
        <p:spPr>
          <a:xfrm>
            <a:off x="7772400" y="457200"/>
            <a:ext cx="2775600" cy="603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Box 14"/>
          <p:cNvSpPr/>
          <p:nvPr/>
        </p:nvSpPr>
        <p:spPr>
          <a:xfrm>
            <a:off x="10881360" y="63550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25000"/>
              </a:lnSpc>
            </a:pPr>
            <a:r>
              <a:rPr b="0" lang="en-US" sz="11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5</a:t>
            </a:r>
            <a:endParaRPr b="0" lang="cs-CZ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Box 1"/>
          <p:cNvSpPr/>
          <p:nvPr/>
        </p:nvSpPr>
        <p:spPr>
          <a:xfrm>
            <a:off x="640080" y="457200"/>
            <a:ext cx="10972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6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Týden v provozu</a:t>
            </a:r>
            <a:endParaRPr b="0" lang="cs-CZ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ounded Rectangle 2"/>
          <p:cNvSpPr/>
          <p:nvPr/>
        </p:nvSpPr>
        <p:spPr>
          <a:xfrm>
            <a:off x="640080" y="1554480"/>
            <a:ext cx="2514240" cy="201132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3"/>
          <p:cNvSpPr/>
          <p:nvPr/>
        </p:nvSpPr>
        <p:spPr>
          <a:xfrm>
            <a:off x="822960" y="1783080"/>
            <a:ext cx="2148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25000"/>
              </a:lnSpc>
            </a:pPr>
            <a:r>
              <a:rPr b="1" lang="en-US" sz="40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20 / 20</a:t>
            </a:r>
            <a:endParaRPr b="0" lang="cs-CZ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822960" y="2697480"/>
            <a:ext cx="2148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pozvánek doručeno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0 odmítnutí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Rounded Rectangle 5"/>
          <p:cNvSpPr/>
          <p:nvPr/>
        </p:nvSpPr>
        <p:spPr>
          <a:xfrm>
            <a:off x="3383280" y="1554480"/>
            <a:ext cx="2514240" cy="201132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6"/>
          <p:cNvSpPr/>
          <p:nvPr/>
        </p:nvSpPr>
        <p:spPr>
          <a:xfrm>
            <a:off x="3566160" y="1783080"/>
            <a:ext cx="2148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25000"/>
              </a:lnSpc>
            </a:pPr>
            <a:r>
              <a:rPr b="1" lang="en-US" sz="40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368</a:t>
            </a:r>
            <a:endParaRPr b="0" lang="cs-CZ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7"/>
          <p:cNvSpPr/>
          <p:nvPr/>
        </p:nvSpPr>
        <p:spPr>
          <a:xfrm>
            <a:off x="3566160" y="2697480"/>
            <a:ext cx="2148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automatických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testů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ounded Rectangle 8"/>
          <p:cNvSpPr/>
          <p:nvPr/>
        </p:nvSpPr>
        <p:spPr>
          <a:xfrm>
            <a:off x="6126480" y="1554480"/>
            <a:ext cx="2514240" cy="201132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9"/>
          <p:cNvSpPr/>
          <p:nvPr/>
        </p:nvSpPr>
        <p:spPr>
          <a:xfrm>
            <a:off x="6309360" y="1783080"/>
            <a:ext cx="2148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25000"/>
              </a:lnSpc>
            </a:pPr>
            <a:r>
              <a:rPr b="1" lang="en-US" sz="40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23</a:t>
            </a:r>
            <a:endParaRPr b="0" lang="cs-CZ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6309360" y="2697480"/>
            <a:ext cx="2148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pořadatelů akcí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v databázi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8869680" y="1554480"/>
            <a:ext cx="2514240" cy="201132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12"/>
          <p:cNvSpPr/>
          <p:nvPr/>
        </p:nvSpPr>
        <p:spPr>
          <a:xfrm>
            <a:off x="9052560" y="1783080"/>
            <a:ext cx="2148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25000"/>
              </a:lnSpc>
            </a:pPr>
            <a:r>
              <a:rPr b="1" lang="en-US" sz="40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150 Kč</a:t>
            </a:r>
            <a:endParaRPr b="0" lang="cs-CZ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3"/>
          <p:cNvSpPr/>
          <p:nvPr/>
        </p:nvSpPr>
        <p:spPr>
          <a:xfrm>
            <a:off x="9052560" y="2697480"/>
            <a:ext cx="2148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denní limit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5000"/>
              </a:lnSpc>
            </a:pPr>
            <a:r>
              <a:rPr b="0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na reklamu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4"/>
          <p:cNvSpPr/>
          <p:nvPr/>
        </p:nvSpPr>
        <p:spPr>
          <a:xfrm>
            <a:off x="640080" y="3840480"/>
            <a:ext cx="109724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60000"/>
              </a:lnSpc>
            </a:pPr>
            <a:r>
              <a:rPr b="0" lang="en-US" sz="20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Portál škol — profily, které si školy samy upravují; publikace ihned, moderace zpětně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60000"/>
              </a:lnSpc>
            </a:pPr>
            <a:r>
              <a:rPr b="0" lang="en-US" sz="20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Sklízení dat z webů škol přes RSS a Exa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60000"/>
              </a:lnSpc>
            </a:pPr>
            <a:r>
              <a:rPr b="0" lang="en-US" sz="20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Odhad nákladů, kdyby totéž zadalo MŠMT:  ~5 mil. Kč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15"/>
          <p:cNvSpPr/>
          <p:nvPr/>
        </p:nvSpPr>
        <p:spPr>
          <a:xfrm>
            <a:off x="10881360" y="63550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25000"/>
              </a:lnSpc>
            </a:pPr>
            <a:r>
              <a:rPr b="0" lang="en-US" sz="11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6</a:t>
            </a:r>
            <a:endParaRPr b="0" lang="cs-CZ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Box 1"/>
          <p:cNvSpPr/>
          <p:nvPr/>
        </p:nvSpPr>
        <p:spPr>
          <a:xfrm>
            <a:off x="640080" y="411480"/>
            <a:ext cx="60346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6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Výstup, ne slib</a:t>
            </a:r>
            <a:endParaRPr b="0" lang="cs-CZ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2"/>
          <p:cNvSpPr/>
          <p:nvPr/>
        </p:nvSpPr>
        <p:spPr>
          <a:xfrm>
            <a:off x="640080" y="1143000"/>
            <a:ext cx="60346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35000"/>
              </a:lnSpc>
            </a:pPr>
            <a:r>
              <a:rPr b="0" lang="en-US" sz="20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Zadání znělo: seber databázi pořadatelů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20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veletrhů středních škol.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20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Výstup: 23 organizací, u 12 ověřený e-mail,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20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Excel i CSV, seřazené podle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20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nejbližšího deadlinu.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ounded Rectangle 3"/>
          <p:cNvSpPr/>
          <p:nvPr/>
        </p:nvSpPr>
        <p:spPr>
          <a:xfrm>
            <a:off x="640080" y="3840480"/>
            <a:ext cx="6034680" cy="137124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 w="19050">
            <a:solidFill>
              <a:srgbClr val="0074e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4"/>
          <p:cNvSpPr/>
          <p:nvPr/>
        </p:nvSpPr>
        <p:spPr>
          <a:xfrm>
            <a:off x="960120" y="4069080"/>
            <a:ext cx="54860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Agent nedodal rešerši k dalšímu zpracování.</a:t>
            </a:r>
            <a:endParaRPr b="0" lang="cs-CZ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Dodal seznam, ze kterého se dá rovnou psát.</a:t>
            </a:r>
            <a:endParaRPr b="0" lang="cs-CZ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5"/>
          <p:cNvSpPr/>
          <p:nvPr/>
        </p:nvSpPr>
        <p:spPr>
          <a:xfrm>
            <a:off x="640080" y="5760720"/>
            <a:ext cx="6034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i="1" lang="en-US" sz="13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Adresy na slidu zakryté — nemám souhlas jejich majitelů.</a:t>
            </a:r>
            <a:endParaRPr b="0" lang="cs-CZ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9" name="Picture 6" descr="marketing-anonym.png"/>
          <p:cNvPicPr/>
          <p:nvPr/>
        </p:nvPicPr>
        <p:blipFill>
          <a:blip r:embed="rId1"/>
          <a:stretch/>
        </p:blipFill>
        <p:spPr>
          <a:xfrm>
            <a:off x="7589520" y="457200"/>
            <a:ext cx="2775600" cy="603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TextBox 7"/>
          <p:cNvSpPr/>
          <p:nvPr/>
        </p:nvSpPr>
        <p:spPr>
          <a:xfrm>
            <a:off x="10881360" y="63550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25000"/>
              </a:lnSpc>
            </a:pPr>
            <a:r>
              <a:rPr b="0" lang="en-US" sz="11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7</a:t>
            </a:r>
            <a:endParaRPr b="0" lang="cs-CZ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"/>
          <p:cNvSpPr/>
          <p:nvPr/>
        </p:nvSpPr>
        <p:spPr>
          <a:xfrm>
            <a:off x="640080" y="411480"/>
            <a:ext cx="10972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6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Kde to drhlo</a:t>
            </a:r>
            <a:endParaRPr b="0" lang="cs-CZ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"/>
          <p:cNvSpPr/>
          <p:nvPr/>
        </p:nvSpPr>
        <p:spPr>
          <a:xfrm>
            <a:off x="640080" y="10972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8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Tři nálezy z jednoho pull requestu</a:t>
            </a:r>
            <a:endParaRPr b="0" lang="cs-CZ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ounded Rectangle 3"/>
          <p:cNvSpPr/>
          <p:nvPr/>
        </p:nvSpPr>
        <p:spPr>
          <a:xfrm>
            <a:off x="640080" y="1737360"/>
            <a:ext cx="10881000" cy="1325520"/>
          </a:xfrm>
          <a:prstGeom prst="roundRect">
            <a:avLst>
              <a:gd name="adj" fmla="val 16667"/>
            </a:avLst>
          </a:prstGeom>
          <a:solidFill>
            <a:srgbClr val="fdf2f0"/>
          </a:solidFill>
          <a:ln w="1905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4"/>
          <p:cNvSpPr/>
          <p:nvPr/>
        </p:nvSpPr>
        <p:spPr>
          <a:xfrm>
            <a:off x="960120" y="1874520"/>
            <a:ext cx="10240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900" strike="noStrike" u="none">
                <a:solidFill>
                  <a:srgbClr val="c0392b"/>
                </a:solidFill>
                <a:effectLst/>
                <a:uFillTx/>
                <a:latin typeface="Calibri"/>
              </a:rPr>
              <a:t>Vymyšlený technický fakt</a:t>
            </a:r>
            <a:endParaRPr b="0" lang="cs-CZ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960120" y="2359080"/>
            <a:ext cx="10240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4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AI tvrdila, že tečka za kódem rozbije přihlášení. Nerozbije — normalizace ji zahodí.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14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Ta nepravda se dostala do dokumentu, který byl zdrojem pravdy pro rozesílku.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ounded Rectangle 6"/>
          <p:cNvSpPr/>
          <p:nvPr/>
        </p:nvSpPr>
        <p:spPr>
          <a:xfrm>
            <a:off x="640080" y="3200400"/>
            <a:ext cx="10881000" cy="1325520"/>
          </a:xfrm>
          <a:prstGeom prst="roundRect">
            <a:avLst>
              <a:gd name="adj" fmla="val 16667"/>
            </a:avLst>
          </a:prstGeom>
          <a:solidFill>
            <a:srgbClr val="fdf2f0"/>
          </a:solidFill>
          <a:ln w="1905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7"/>
          <p:cNvSpPr/>
          <p:nvPr/>
        </p:nvSpPr>
        <p:spPr>
          <a:xfrm>
            <a:off x="960120" y="3337560"/>
            <a:ext cx="10240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900" strike="noStrike" u="none">
                <a:solidFill>
                  <a:srgbClr val="c0392b"/>
                </a:solidFill>
                <a:effectLst/>
                <a:uFillTx/>
                <a:latin typeface="Calibri"/>
              </a:rPr>
              <a:t>Vývojářská poznámka mířila do e-mailu</a:t>
            </a:r>
            <a:endParaRPr b="0" lang="cs-CZ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8"/>
          <p:cNvSpPr/>
          <p:nvPr/>
        </p:nvSpPr>
        <p:spPr>
          <a:xfrm>
            <a:off x="960120" y="3822120"/>
            <a:ext cx="10240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4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HTML komentář „ředitel by si kód zkopíroval špatně“ by dorazil dvaceti ředitelům —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14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ve studeném e-mailu, jehož celý smysl je nevypadat jako podvod.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9"/>
          <p:cNvSpPr/>
          <p:nvPr/>
        </p:nvSpPr>
        <p:spPr>
          <a:xfrm>
            <a:off x="640080" y="4663440"/>
            <a:ext cx="10881000" cy="1325520"/>
          </a:xfrm>
          <a:prstGeom prst="roundRect">
            <a:avLst>
              <a:gd name="adj" fmla="val 16667"/>
            </a:avLst>
          </a:prstGeom>
          <a:solidFill>
            <a:srgbClr val="fdf2f0"/>
          </a:solidFill>
          <a:ln w="1905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960120" y="4800600"/>
            <a:ext cx="10240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1900" strike="noStrike" u="none">
                <a:solidFill>
                  <a:srgbClr val="c0392b"/>
                </a:solidFill>
                <a:effectLst/>
                <a:uFillTx/>
                <a:latin typeface="Calibri"/>
              </a:rPr>
              <a:t>Jednorázový kód se dal spálit</a:t>
            </a:r>
            <a:endParaRPr b="0" lang="cs-CZ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1"/>
          <p:cNvSpPr/>
          <p:nvPr/>
        </p:nvSpPr>
        <p:spPr>
          <a:xfrm>
            <a:off x="960120" y="5285160"/>
            <a:ext cx="10240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4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253 z 1362 škol. Kód je jednorázový; druhý už škola nedostane.</a:t>
            </a:r>
            <a:endParaRPr b="0" lang="cs-CZ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640080" y="617220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25000"/>
              </a:lnSpc>
            </a:pPr>
            <a:r>
              <a:rPr b="1" lang="en-US" sz="24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Nic z toho nezachytila opatrnost. Zachytilo to další kolo.</a:t>
            </a:r>
            <a:endParaRPr b="0" lang="cs-CZ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3"/>
          <p:cNvSpPr/>
          <p:nvPr/>
        </p:nvSpPr>
        <p:spPr>
          <a:xfrm>
            <a:off x="10881360" y="63550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25000"/>
              </a:lnSpc>
            </a:pPr>
            <a:r>
              <a:rPr b="0" lang="en-US" sz="11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8</a:t>
            </a:r>
            <a:endParaRPr b="0" lang="cs-CZ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640080" y="457200"/>
            <a:ext cx="10972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6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Co to zachytilo</a:t>
            </a:r>
            <a:endParaRPr b="0" lang="cs-CZ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2"/>
          <p:cNvSpPr/>
          <p:nvPr/>
        </p:nvSpPr>
        <p:spPr>
          <a:xfrm>
            <a:off x="640080" y="1463040"/>
            <a:ext cx="5303160" cy="210276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 w="19050">
            <a:solidFill>
              <a:srgbClr val="0074e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3"/>
          <p:cNvSpPr/>
          <p:nvPr/>
        </p:nvSpPr>
        <p:spPr>
          <a:xfrm>
            <a:off x="960120" y="169164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40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6 kol</a:t>
            </a:r>
            <a:endParaRPr b="0" lang="cs-CZ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4"/>
          <p:cNvSpPr/>
          <p:nvPr/>
        </p:nvSpPr>
        <p:spPr>
          <a:xfrm>
            <a:off x="960120" y="2377440"/>
            <a:ext cx="47545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code review nad jedním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pull requestem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5"/>
          <p:cNvSpPr/>
          <p:nvPr/>
        </p:nvSpPr>
        <p:spPr>
          <a:xfrm>
            <a:off x="6217920" y="1463040"/>
            <a:ext cx="5303160" cy="210276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 w="1905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6"/>
          <p:cNvSpPr/>
          <p:nvPr/>
        </p:nvSpPr>
        <p:spPr>
          <a:xfrm>
            <a:off x="6537960" y="169164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4000" strike="noStrike" u="none">
                <a:solidFill>
                  <a:srgbClr val="c0392b"/>
                </a:solidFill>
                <a:effectLst/>
                <a:uFillTx/>
                <a:latin typeface="Calibri"/>
              </a:rPr>
              <a:t>9 testů</a:t>
            </a:r>
            <a:endParaRPr b="0" lang="cs-CZ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7"/>
          <p:cNvSpPr/>
          <p:nvPr/>
        </p:nvSpPr>
        <p:spPr>
          <a:xfrm>
            <a:off x="6537960" y="2377440"/>
            <a:ext cx="47545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netestovalo vůbec nic —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odhalila to mutace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8"/>
          <p:cNvSpPr/>
          <p:nvPr/>
        </p:nvSpPr>
        <p:spPr>
          <a:xfrm>
            <a:off x="640080" y="3931920"/>
            <a:ext cx="108810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40000"/>
              </a:lnSpc>
            </a:pPr>
            <a:r>
              <a:rPr b="0" lang="en-US" sz="21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Jeden z nich chybu dokonce zamykal jako správné chování.</a:t>
            </a:r>
            <a:endParaRPr b="0" lang="cs-CZ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endParaRPr b="0" lang="cs-CZ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b="0" lang="en-US" sz="21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Model, který kód napsal, je na něj slepý. Tři z těch nálezů byly věci,</a:t>
            </a:r>
            <a:endParaRPr b="0" lang="cs-CZ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b="0" lang="en-US" sz="21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které si byl jistý — sám by je neodhalil.</a:t>
            </a:r>
            <a:endParaRPr b="0" lang="cs-CZ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9"/>
          <p:cNvSpPr/>
          <p:nvPr/>
        </p:nvSpPr>
        <p:spPr>
          <a:xfrm>
            <a:off x="640080" y="5943600"/>
            <a:ext cx="10881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25000"/>
              </a:lnSpc>
            </a:pPr>
            <a:r>
              <a:rPr b="1" lang="en-US" sz="20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Nestav kontrolu na tom, že agent bude opatrný. Postav ji na tom, že se dívá někdo jiný.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10"/>
          <p:cNvSpPr/>
          <p:nvPr/>
        </p:nvSpPr>
        <p:spPr>
          <a:xfrm>
            <a:off x="10881360" y="63550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25000"/>
              </a:lnSpc>
            </a:pPr>
            <a:r>
              <a:rPr b="0" lang="en-US" sz="11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9</a:t>
            </a:r>
            <a:endParaRPr b="0" lang="cs-CZ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Box 1"/>
          <p:cNvSpPr/>
          <p:nvPr/>
        </p:nvSpPr>
        <p:spPr>
          <a:xfrm>
            <a:off x="640080" y="457200"/>
            <a:ext cx="10972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6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Kde končí autonomie</a:t>
            </a:r>
            <a:endParaRPr b="0" lang="cs-CZ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ounded Rectangle 2"/>
          <p:cNvSpPr/>
          <p:nvPr/>
        </p:nvSpPr>
        <p:spPr>
          <a:xfrm>
            <a:off x="640080" y="1554480"/>
            <a:ext cx="5303160" cy="3291480"/>
          </a:xfrm>
          <a:prstGeom prst="roundRect">
            <a:avLst>
              <a:gd name="adj" fmla="val 16667"/>
            </a:avLst>
          </a:prstGeom>
          <a:solidFill>
            <a:srgbClr val="eff7f1"/>
          </a:solidFill>
          <a:ln w="19050">
            <a:solidFill>
              <a:srgbClr val="1e7a5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3"/>
          <p:cNvSpPr/>
          <p:nvPr/>
        </p:nvSpPr>
        <p:spPr>
          <a:xfrm>
            <a:off x="1005840" y="178308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000" strike="noStrike" u="none">
                <a:solidFill>
                  <a:srgbClr val="1e7a5e"/>
                </a:solidFill>
                <a:effectLst/>
                <a:uFillTx/>
                <a:latin typeface="Calibri"/>
              </a:rPr>
              <a:t>Agent sám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4"/>
          <p:cNvSpPr/>
          <p:nvPr/>
        </p:nvSpPr>
        <p:spPr>
          <a:xfrm>
            <a:off x="1005840" y="2331720"/>
            <a:ext cx="46630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5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Kód a refaktoring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Odpovědi v podpoře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Rešerše a databáze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Kampaně v rámci limitu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Návrhy produktu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5"/>
          <p:cNvSpPr/>
          <p:nvPr/>
        </p:nvSpPr>
        <p:spPr>
          <a:xfrm>
            <a:off x="6217920" y="1554480"/>
            <a:ext cx="5303160" cy="3291480"/>
          </a:xfrm>
          <a:prstGeom prst="roundRect">
            <a:avLst>
              <a:gd name="adj" fmla="val 16667"/>
            </a:avLst>
          </a:prstGeom>
          <a:solidFill>
            <a:srgbClr val="fdf2f0"/>
          </a:solidFill>
          <a:ln w="1905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6"/>
          <p:cNvSpPr/>
          <p:nvPr/>
        </p:nvSpPr>
        <p:spPr>
          <a:xfrm>
            <a:off x="6583680" y="178308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000" strike="noStrike" u="none">
                <a:solidFill>
                  <a:srgbClr val="c0392b"/>
                </a:solidFill>
                <a:effectLst/>
                <a:uFillTx/>
                <a:latin typeface="Calibri"/>
              </a:rPr>
              <a:t>Vždy člověk</a:t>
            </a:r>
            <a:endParaRPr b="0" lang="cs-CZ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7"/>
          <p:cNvSpPr/>
          <p:nvPr/>
        </p:nvSpPr>
        <p:spPr>
          <a:xfrm>
            <a:off x="6583680" y="2331720"/>
            <a:ext cx="46630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5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Platby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Smlouvy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Úřady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Nevratné rozesílky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5000"/>
              </a:lnSpc>
            </a:pPr>
            <a:r>
              <a:rPr b="0" lang="en-US" sz="17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Cokoli s dopadem na reputaci</a:t>
            </a:r>
            <a:endParaRPr b="0" lang="cs-CZ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8"/>
          <p:cNvSpPr/>
          <p:nvPr/>
        </p:nvSpPr>
        <p:spPr>
          <a:xfrm>
            <a:off x="640080" y="5120640"/>
            <a:ext cx="10881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30000"/>
              </a:lnSpc>
            </a:pPr>
            <a:r>
              <a:rPr b="1" lang="en-US" sz="24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Dělicí čára není „důležité / nedůležité“.</a:t>
            </a:r>
            <a:endParaRPr b="0" lang="cs-CZ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30000"/>
              </a:lnSpc>
            </a:pPr>
            <a:r>
              <a:rPr b="1" lang="en-US" sz="2400" strike="noStrike" u="none">
                <a:solidFill>
                  <a:srgbClr val="16325c"/>
                </a:solidFill>
                <a:effectLst/>
                <a:uFillTx/>
                <a:latin typeface="Calibri"/>
              </a:rPr>
              <a:t>Je to „dá se to vzít zpět?“</a:t>
            </a:r>
            <a:endParaRPr b="0" lang="cs-CZ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9"/>
          <p:cNvSpPr/>
          <p:nvPr/>
        </p:nvSpPr>
        <p:spPr>
          <a:xfrm>
            <a:off x="10881360" y="63550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25000"/>
              </a:lnSpc>
            </a:pPr>
            <a:r>
              <a:rPr b="0" lang="en-US" sz="1100" strike="noStrike" u="none">
                <a:solidFill>
                  <a:srgbClr val="5b6877"/>
                </a:solidFill>
                <a:effectLst/>
                <a:uFillTx/>
                <a:latin typeface="Calibri"/>
              </a:rPr>
              <a:t>10</a:t>
            </a:r>
            <a:endParaRPr b="0" lang="cs-CZ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Box 1"/>
          <p:cNvSpPr/>
          <p:nvPr/>
        </p:nvSpPr>
        <p:spPr>
          <a:xfrm>
            <a:off x="914400" y="1005840"/>
            <a:ext cx="10332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Co zkusit zítra</a:t>
            </a:r>
            <a:endParaRPr b="0" lang="cs-CZ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2"/>
          <p:cNvSpPr/>
          <p:nvPr/>
        </p:nvSpPr>
        <p:spPr>
          <a:xfrm>
            <a:off x="914400" y="210312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0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1</a:t>
            </a:r>
            <a:endParaRPr b="0" lang="cs-CZ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3"/>
          <p:cNvSpPr/>
          <p:nvPr/>
        </p:nvSpPr>
        <p:spPr>
          <a:xfrm>
            <a:off x="1645920" y="2148840"/>
            <a:ext cx="9417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2100" strike="noStrike" u="none">
                <a:solidFill>
                  <a:srgbClr val="e3e9f1"/>
                </a:solidFill>
                <a:effectLst/>
                <a:uFillTx/>
                <a:latin typeface="Calibri"/>
              </a:rPr>
              <a:t>Dej agentovi cíl a meze, ne seznam úkolů.</a:t>
            </a:r>
            <a:endParaRPr b="0" lang="cs-CZ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4"/>
          <p:cNvSpPr/>
          <p:nvPr/>
        </p:nvSpPr>
        <p:spPr>
          <a:xfrm>
            <a:off x="914400" y="333756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0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2</a:t>
            </a:r>
            <a:endParaRPr b="0" lang="cs-CZ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5"/>
          <p:cNvSpPr/>
          <p:nvPr/>
        </p:nvSpPr>
        <p:spPr>
          <a:xfrm>
            <a:off x="1645920" y="3383280"/>
            <a:ext cx="9417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2100" strike="noStrike" u="none">
                <a:solidFill>
                  <a:srgbClr val="e3e9f1"/>
                </a:solidFill>
                <a:effectLst/>
                <a:uFillTx/>
                <a:latin typeface="Calibri"/>
              </a:rPr>
              <a:t>Rozděl role: kdo píše, ten nerecenzuje.</a:t>
            </a:r>
            <a:endParaRPr b="0" lang="cs-CZ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6"/>
          <p:cNvSpPr/>
          <p:nvPr/>
        </p:nvSpPr>
        <p:spPr>
          <a:xfrm>
            <a:off x="914400" y="457200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3000" strike="noStrike" u="none">
                <a:solidFill>
                  <a:srgbClr val="0074e4"/>
                </a:solidFill>
                <a:effectLst/>
                <a:uFillTx/>
                <a:latin typeface="Calibri"/>
              </a:rPr>
              <a:t>3</a:t>
            </a:r>
            <a:endParaRPr b="0" lang="cs-CZ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7"/>
          <p:cNvSpPr/>
          <p:nvPr/>
        </p:nvSpPr>
        <p:spPr>
          <a:xfrm>
            <a:off x="1645920" y="4617720"/>
            <a:ext cx="9417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2100" strike="noStrike" u="none">
                <a:solidFill>
                  <a:srgbClr val="e3e9f1"/>
                </a:solidFill>
                <a:effectLst/>
                <a:uFillTx/>
                <a:latin typeface="Calibri"/>
              </a:rPr>
              <a:t>U každého testu rozbij kód, který má hlídat.</a:t>
            </a:r>
            <a:endParaRPr b="0" lang="cs-CZ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b="0" lang="en-US" sz="2100" strike="noStrike" u="none">
                <a:solidFill>
                  <a:srgbClr val="e3e9f1"/>
                </a:solidFill>
                <a:effectLst/>
                <a:uFillTx/>
                <a:latin typeface="Calibri"/>
              </a:rPr>
              <a:t>Když projde, netestuje nic.</a:t>
            </a:r>
            <a:endParaRPr b="0" lang="cs-CZ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8"/>
          <p:cNvSpPr/>
          <p:nvPr/>
        </p:nvSpPr>
        <p:spPr>
          <a:xfrm>
            <a:off x="914400" y="5943600"/>
            <a:ext cx="10332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700" strike="noStrike" u="none">
                <a:solidFill>
                  <a:srgbClr val="8ca3bd"/>
                </a:solidFill>
                <a:effectLst/>
                <a:uFillTx/>
                <a:latin typeface="Calibri"/>
              </a:rPr>
              <a:t>eda@prijimackynaskolu.cz  ·  thread na X</a:t>
            </a:r>
            <a:endParaRPr b="0" lang="cs-CZ" sz="1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LibreOffice/25.2.4.3$MacOSX_AARCH64 LibreOffice_project/33e196637044ead23f5c3226cde09b47731f7e27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cs-CZ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